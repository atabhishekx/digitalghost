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914" y="1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6690"/>
                </a:solidFill>
                <a:latin typeface="Aptos"/>
              </a:rPr>
              <a:t>PROJECT SPOTLIGHT  /  CYBERSECURITY +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67665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18324B"/>
                </a:solidFill>
                <a:latin typeface="Aptos"/>
              </a:rPr>
              <a:t>DigitalGhost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93392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3A7D8C"/>
                </a:solidFill>
                <a:latin typeface="Aptos"/>
              </a:rPr>
              <a:t>2.1.1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14600"/>
            <a:ext cx="5669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8324B"/>
                </a:solidFill>
                <a:latin typeface="Aptos"/>
              </a:rPr>
              <a:t>Detecting dormant identities with dangerous retained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38144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17386"/>
                </a:solidFill>
                <a:latin typeface="Aptos"/>
              </a:rPr>
              <a:t>An AI-driven behavioral identity decay &amp; privilege-risk intelligence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28032"/>
            <a:ext cx="534924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5047488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17386"/>
                </a:solidFill>
                <a:latin typeface="Aptos"/>
              </a:rPr>
              <a:t>ABHISHEK VISHWAKARMA  •  SANCHITA WARKAD  •  PULKIT YADAV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80644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386"/>
                </a:solidFill>
                <a:latin typeface="Aptos"/>
              </a:rPr>
              <a:t>Guided by Mrs. Shilpa Mathur  |  TCET • AIML • AY 2026–27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FBEB8A-160A-17F6-5351-9613B94C5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1119348"/>
            <a:ext cx="5815584" cy="38770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F6690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324B"/>
                </a:solidFill>
                <a:latin typeface="Aptos"/>
              </a:rPr>
              <a:t>Access can outlive the reason it was granted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The risk is not just an inactive account — it is an identity whose access no longer matches its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960120" cy="32004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86"/>
                </a:solidFill>
                <a:latin typeface="Aptos"/>
              </a:rPr>
              <a:t>02</a:t>
            </a:r>
          </a:p>
        </p:txBody>
      </p:sp>
      <p:pic>
        <p:nvPicPr>
          <p:cNvPr id="7" name="Picture 6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73152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2011680"/>
            <a:ext cx="3520440" cy="3246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9327" y="23317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84A52"/>
                </a:solidFill>
                <a:latin typeface="Aptos"/>
              </a:rPr>
              <a:t>THE BLIND SPOT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7" y="2788920"/>
            <a:ext cx="28346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43447"/>
                </a:solidFill>
                <a:latin typeface="Aptos"/>
              </a:rPr>
              <a:t>Role changes.
Projects end.
Contracts expire.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4069080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386"/>
                </a:solidFill>
                <a:latin typeface="Aptos"/>
              </a:rPr>
              <a:t>Yet permissions may remain active — creating exposure that periodic reviews can miss.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C0C647-1447-30ED-D939-73F642B7F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147" y="18288"/>
            <a:ext cx="2108200" cy="14054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F6690"/>
                </a:solidFill>
                <a:latin typeface="Aptos"/>
              </a:rPr>
              <a:t>02 / WHY EXISTING CHECKS MISS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324B"/>
                </a:solidFill>
                <a:latin typeface="Aptos"/>
              </a:rPr>
              <a:t>Inactivity is a signal — not a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A useful triage system must understand what an identity can access, not only when it last logged 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960120" cy="32004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86"/>
                </a:solidFill>
                <a:latin typeface="Aptos"/>
              </a:rPr>
              <a:t>03</a:t>
            </a:r>
          </a:p>
        </p:txBody>
      </p:sp>
      <p:pic>
        <p:nvPicPr>
          <p:cNvPr id="7" name="Picture 6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73152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965960"/>
            <a:ext cx="3520440" cy="3474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228600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6690"/>
                </a:solidFill>
                <a:latin typeface="Aptos"/>
              </a:rPr>
              <a:t>THE DESIGN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8892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43447"/>
                </a:solidFill>
                <a:latin typeface="Aptos"/>
              </a:rPr>
              <a:t>Context over cut-offs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520440"/>
            <a:ext cx="2926080" cy="1600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8B7CA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Different identity types behave differently</a:t>
            </a:r>
          </a:p>
          <a:p>
            <a:pPr>
              <a:spcAft>
                <a:spcPts val="800"/>
              </a:spcAft>
              <a:defRPr sz="1200">
                <a:solidFill>
                  <a:srgbClr val="A8B7CA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Active accounts can still hold stale privileges</a:t>
            </a:r>
          </a:p>
          <a:p>
            <a:pPr>
              <a:spcAft>
                <a:spcPts val="800"/>
              </a:spcAft>
              <a:defRPr sz="1200">
                <a:solidFill>
                  <a:srgbClr val="A8B7CA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Every finding needs evidence and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490BDD-A0E4-9F1B-F609-398088967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147" y="18288"/>
            <a:ext cx="2108200" cy="14054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B3235-0731-5CC0-212A-ECF5A6CF1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0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F6690"/>
                </a:solidFill>
                <a:latin typeface="Aptos"/>
              </a:rPr>
              <a:t>03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324B"/>
                </a:solidFill>
                <a:latin typeface="Aptos"/>
              </a:rPr>
              <a:t>DigitalGhost turns scattered signals into a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A local-first decision-support prototype for identity and privilege risk triage.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960120" cy="32004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86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4290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F669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0779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43447"/>
                </a:solidFill>
                <a:latin typeface="Aptos"/>
              </a:rPr>
              <a:t>MODEL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86"/>
                </a:solidFill>
                <a:latin typeface="Aptos"/>
              </a:rPr>
              <a:t>Identity lifecycle • permission use
resource sensitivity • ownership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4290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6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42316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6B648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0779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43447"/>
                </a:solidFill>
                <a:latin typeface="Aptos"/>
              </a:rPr>
              <a:t>COMBINE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2900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86"/>
                </a:solidFill>
                <a:latin typeface="Aptos"/>
              </a:rPr>
              <a:t>Rule-based checks • graph exposure
Isolation Forest anomaly 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48840"/>
            <a:ext cx="34290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242316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F7A63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90779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43447"/>
                </a:solidFill>
                <a:latin typeface="Aptos"/>
              </a:rPr>
              <a:t>EXPLAIN &amp;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42900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86"/>
                </a:solidFill>
                <a:latin typeface="Aptos"/>
              </a:rPr>
              <a:t>Priority band • evidence summary
read-only investigation •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9834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87924"/>
                </a:solidFill>
                <a:latin typeface="Aptos"/>
              </a:rP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3309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DigitalGhost recommends investigation; it does not autonomously disable accounts or prove malicious intent.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22A4561-BA9A-8BC6-3DF8-E3412A236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147" y="18288"/>
            <a:ext cx="2108200" cy="14054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F6690"/>
                </a:solidFill>
                <a:latin typeface="Aptos"/>
              </a:rPr>
              <a:t>04 /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324B"/>
                </a:solidFill>
                <a:latin typeface="Aptos"/>
              </a:rPr>
              <a:t>A modular, local-first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The architecture keeps data preparation, scoring, investigation, and review responsibilities distinct.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960120" cy="32004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86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113385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EF87FC-5684-D5EA-DC16-B8D817A2A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147" y="18288"/>
            <a:ext cx="2108200" cy="1405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F6690"/>
                </a:solidFill>
                <a:latin typeface="Aptos"/>
              </a:rPr>
              <a:t>05 / GRAPH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324B"/>
                </a:solidFill>
                <a:latin typeface="Aptos"/>
              </a:rPr>
              <a:t>Access is a network of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Graph analysis helps connect an identity to roles, permissions, resources, activity, and lifecycle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960120" cy="32004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86"/>
                </a:solidFill>
                <a:latin typeface="Aptos"/>
              </a:rPr>
              <a:t>06</a:t>
            </a:r>
          </a:p>
        </p:txBody>
      </p:sp>
      <p:pic>
        <p:nvPicPr>
          <p:cNvPr id="7" name="Picture 6" descr="identit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543800" cy="4251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2103120"/>
            <a:ext cx="3291840" cy="3063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6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24231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48E"/>
                </a:solidFill>
                <a:latin typeface="Aptos"/>
              </a:rPr>
              <a:t>WHAT THE GRAPH ADDS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971800"/>
            <a:ext cx="2743200" cy="1737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3F7FC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Surfaces indirect or inherited access paths</a:t>
            </a:r>
          </a:p>
          <a:p>
            <a:pPr>
              <a:spcAft>
                <a:spcPts val="900"/>
              </a:spcAft>
              <a:defRPr sz="1200">
                <a:solidFill>
                  <a:srgbClr val="F3F7FC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Links permissions to resource sensitivity</a:t>
            </a:r>
          </a:p>
          <a:p>
            <a:pPr>
              <a:spcAft>
                <a:spcPts val="900"/>
              </a:spcAft>
              <a:defRPr sz="1200">
                <a:solidFill>
                  <a:srgbClr val="F3F7FC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Adds context beyond last-login timestamps</a:t>
            </a:r>
          </a:p>
          <a:p>
            <a:pPr>
              <a:spcAft>
                <a:spcPts val="900"/>
              </a:spcAft>
              <a:defRPr sz="1200">
                <a:solidFill>
                  <a:srgbClr val="F3F7FC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Keeps a traceable path for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2CBE0C-6D6E-CDD5-D75F-13305FCB5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147" y="18288"/>
            <a:ext cx="2108200" cy="1405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F6690"/>
                </a:solidFill>
                <a:latin typeface="Aptos"/>
              </a:rPr>
              <a:t>06 /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324B"/>
                </a:solidFill>
                <a:latin typeface="Aptos"/>
              </a:rPr>
              <a:t>Three perspectives. One explainable priority.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Score fusion is designed to avoid allowing one strong signal to disappear inside an average.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960120" cy="32004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86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risk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1129284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8350BE-0E43-9A93-5BC1-AE719DDA7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147" y="18288"/>
            <a:ext cx="2108200" cy="14054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F6690"/>
                </a:solidFill>
                <a:latin typeface="Aptos"/>
              </a:rPr>
              <a:t>07 / EVIDENCE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324B"/>
                </a:solidFill>
                <a:latin typeface="Aptos"/>
              </a:rPr>
              <a:t>A reproducible synthetic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The report evaluates the approach on generated identity and activity scenarios; results should not be generalized to live enterprise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960120" cy="32004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86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589520" cy="4251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2057400"/>
            <a:ext cx="3246120" cy="3383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7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237744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7924"/>
                </a:solidFill>
                <a:latin typeface="Aptos"/>
              </a:rPr>
              <a:t>REPORTED TEST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880360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43447"/>
                </a:solidFill>
                <a:latin typeface="Aptos"/>
              </a:rPr>
              <a:t>18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54787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F7A63"/>
                </a:solidFill>
                <a:latin typeface="Aptos"/>
              </a:rPr>
              <a:t>automated tests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1605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Synthetic benchmark: 1,500 identities • 12,000 activity events • 375 held-out identities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97ACE0-9C64-F648-6E79-8B9A89035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147" y="18288"/>
            <a:ext cx="2108200" cy="14054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F6690"/>
                </a:solidFill>
                <a:latin typeface="Aptos"/>
              </a:rPr>
              <a:t>08 / RESULTS &amp;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324B"/>
                </a:solidFill>
                <a:latin typeface="Aptos"/>
              </a:rPr>
              <a:t>Use metrics to guide review — not to claim 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Benchmark metrics describe performance on the supplied synthetic scenarios, not on production identity estates.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960120" cy="32004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86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525780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447"/>
                </a:solidFill>
                <a:latin typeface="Aptos"/>
              </a:rPr>
              <a:t>Isolation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5798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2F6690"/>
                </a:solidFill>
                <a:latin typeface="Aptos"/>
              </a:rPr>
              <a:t>F1 0.747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386"/>
                </a:solidFill>
                <a:latin typeface="Aptos"/>
              </a:rPr>
              <a:t>Anomaly-oriented 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525780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176272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447"/>
                </a:solidFill>
                <a:latin typeface="Aptos"/>
              </a:rPr>
              <a:t>Rule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15798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2F6690"/>
                </a:solidFill>
                <a:latin typeface="Aptos"/>
              </a:rPr>
              <a:t>F1 0.575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3347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386"/>
                </a:solidFill>
                <a:latin typeface="Aptos"/>
              </a:rPr>
              <a:t>Transparent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20440"/>
            <a:ext cx="525780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6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685032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447"/>
                </a:solidFill>
                <a:latin typeface="Aptos"/>
              </a:rPr>
              <a:t>Graph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66674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6B648E"/>
                </a:solidFill>
                <a:latin typeface="Aptos"/>
              </a:rPr>
              <a:t>F1 0.477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4223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386"/>
                </a:solidFill>
                <a:latin typeface="Aptos"/>
              </a:rPr>
              <a:t>Relationship exposure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520440"/>
            <a:ext cx="525780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685032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447"/>
                </a:solidFill>
                <a:latin typeface="Aptos"/>
              </a:rPr>
              <a:t>Fused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366674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2F7A63"/>
                </a:solidFill>
                <a:latin typeface="Aptos"/>
              </a:rPr>
              <a:t>F1 0.688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14223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386"/>
                </a:solidFill>
                <a:latin typeface="Aptos"/>
              </a:rPr>
              <a:t>Combined triage signal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257800"/>
            <a:ext cx="1092708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42239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447"/>
                </a:solidFill>
                <a:latin typeface="Aptos"/>
              </a:rPr>
              <a:t>Interpretation: no single detector dominates every scenario; fused scoring broadens triage coverage, with trade-offs.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98932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B87924"/>
                </a:solidFill>
                <a:latin typeface="Aptos"/>
              </a:rPr>
              <a:t>Metrics transcribed from the provided report snapshot; verify against the final benchmark output before presenting.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FC8BBB9-139C-59A5-A690-74E24F20A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147" y="18288"/>
            <a:ext cx="2108200" cy="14054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F6690"/>
                </a:solidFill>
                <a:latin typeface="Aptos"/>
              </a:rPr>
              <a:t>09 /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324B"/>
                </a:solidFill>
                <a:latin typeface="Aptos"/>
              </a:rPr>
              <a:t>Human review is the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Explainability, read-only investigation, and auditability are central to the proposed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960120" cy="32004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86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human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740664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38160" y="2057400"/>
            <a:ext cx="3429000" cy="3337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23774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7A63"/>
                </a:solidFill>
                <a:latin typeface="Aptos"/>
              </a:rPr>
              <a:t>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926080"/>
            <a:ext cx="2788920" cy="2057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3F7FC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No autonomous access revocation</a:t>
            </a:r>
          </a:p>
          <a:p>
            <a:pPr>
              <a:spcAft>
                <a:spcPts val="800"/>
              </a:spcAft>
              <a:defRPr sz="1200">
                <a:solidFill>
                  <a:srgbClr val="F3F7FC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Anomaly ≠ compromise</a:t>
            </a:r>
          </a:p>
          <a:p>
            <a:pPr>
              <a:spcAft>
                <a:spcPts val="800"/>
              </a:spcAft>
              <a:defRPr sz="1200">
                <a:solidFill>
                  <a:srgbClr val="F3F7FC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Evidence accompanies findings</a:t>
            </a:r>
          </a:p>
          <a:p>
            <a:pPr>
              <a:spcAft>
                <a:spcPts val="800"/>
              </a:spcAft>
              <a:defRPr sz="1200">
                <a:solidFill>
                  <a:srgbClr val="F3F7FC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Analyst records the decision</a:t>
            </a:r>
          </a:p>
          <a:p>
            <a:pPr>
              <a:spcAft>
                <a:spcPts val="800"/>
              </a:spcAft>
              <a:defRPr sz="1200">
                <a:solidFill>
                  <a:srgbClr val="F3F7FC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Synthetic-data limits are explicit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49798E-45BD-F4C7-E397-4250DBF09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147" y="18288"/>
            <a:ext cx="2108200" cy="14054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F6690"/>
                </a:solidFill>
                <a:latin typeface="Aptos"/>
              </a:rPr>
              <a:t>10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324B"/>
                </a:solidFill>
                <a:latin typeface="Aptos"/>
              </a:rPr>
              <a:t>From research prototype to validated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The next phase should focus on validation, explainability, and controlled integration — not premature automation.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960120" cy="32004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86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251460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6060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F669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0632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3447"/>
                </a:solidFill>
                <a:latin typeface="Aptos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611880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Test against expert-labelled cases
Measure false positives / negatives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31720"/>
            <a:ext cx="251460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6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7" y="26060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B648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30632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3447"/>
                </a:solidFill>
                <a:latin typeface="Aptos"/>
              </a:rPr>
              <a:t>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611880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Add feature-level evidence
Run ablation and calibration studies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331720"/>
            <a:ext cx="251460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6248" y="26060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F669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0632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3447"/>
                </a:solidFill>
                <a:latin typeface="Aptos"/>
              </a:rPr>
              <a:t>INTEGRATE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3611880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Use sanitized, approved data
Keep permissions read-only initially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331720"/>
            <a:ext cx="251460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36608" y="26060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F7A63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30632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3447"/>
                </a:solidFill>
                <a:latin typeface="Aptos"/>
              </a:rPr>
              <a:t>GOVERN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3611880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86"/>
                </a:solidFill>
                <a:latin typeface="Aptos"/>
              </a:rPr>
              <a:t>Privacy review • access controls
Human approval • auditability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257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43447"/>
                </a:solidFill>
                <a:latin typeface="Aptos"/>
              </a:rPr>
              <a:t>Success means a more accurate, explainable access-review queue — with accountable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1C58EBE-075D-821A-12B0-0A85E1F2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147" y="18288"/>
            <a:ext cx="2108200" cy="14054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85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6690"/>
                </a:solidFill>
                <a:latin typeface="Aptos"/>
              </a:rP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4864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8324B"/>
                </a:solidFill>
                <a:latin typeface="Aptos"/>
              </a:rPr>
              <a:t>The danger isn't only
who can log in.
It's what they can
still reach.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617386"/>
                </a:solidFill>
                <a:latin typeface="Aptos"/>
              </a:rPr>
              <a:t>DigitalGhost makes retained access visible, explainable, and reviewable.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530352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51297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F6690"/>
                </a:solidFill>
                <a:latin typeface="Aptos"/>
              </a:rPr>
              <a:t>QUESTIONS  / 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386"/>
                </a:solidFill>
                <a:latin typeface="Aptos"/>
              </a:rPr>
              <a:t>Abhishek Vishwakarma • Sanchita Warkad • Pulkit Yadav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386"/>
                </a:solidFill>
                <a:latin typeface="Aptos"/>
              </a:rPr>
              <a:t>DIGITALGHOST 2.1.1  •  PROJECT-BASED LEARNING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53FBF1-6B21-62E8-B208-5979623C9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147" y="18288"/>
            <a:ext cx="2108200" cy="14054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742</Words>
  <Application>Microsoft Office PowerPoint</Application>
  <PresentationFormat>Widescreen</PresentationFormat>
  <Paragraphs>125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52_AIML_C_Abhishek Vishwakarma</dc:creator>
  <cp:keywords/>
  <dc:description>generated using python-pptx</dc:description>
  <cp:lastModifiedBy>52_AIML_C_Abhishek Vishwakarma</cp:lastModifiedBy>
  <cp:revision>2</cp:revision>
  <dcterms:created xsi:type="dcterms:W3CDTF">2013-01-27T09:14:16Z</dcterms:created>
  <dcterms:modified xsi:type="dcterms:W3CDTF">2026-10-26T21:50:25Z</dcterms:modified>
  <cp:category/>
</cp:coreProperties>
</file>